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8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7315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18CF8"/>
                </a:solidFill>
                <a:latin typeface="Calibri"/>
              </a:defRPr>
            </a:pPr>
            <a:r>
              <a:t>BRAHMORA TECHNOLOGIES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9418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0F4FC"/>
                </a:solidFill>
                <a:latin typeface="Calibri"/>
              </a:defRPr>
            </a:pPr>
            <a:r>
              <a:t>The traditional way of operating</a:t>
            </a:r>
            <a:br/>
            <a:r>
              <a:t>cloud platforms no longer scales.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38328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Platform teams manage more infrastructure, more risk, more cost, and more governance than ever before. But they still operate with disconnected tools and manual processes.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4754880"/>
            <a:ext cx="9418320" cy="1463040"/>
          </a:xfrm>
          <a:prstGeom prst="roundRect">
            <a:avLst/>
          </a:prstGeom>
          <a:solidFill>
            <a:srgbClr val="0F1629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371600" y="4754880"/>
            <a:ext cx="9418320" cy="381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4937760"/>
            <a:ext cx="8869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0F4FC"/>
                </a:solidFill>
                <a:latin typeface="Calibri"/>
              </a:defRPr>
            </a:pPr>
            <a:r>
              <a:t>AEGIS brings reliability, governance, operations, and cost into one operational system.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5440680"/>
            <a:ext cx="8869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It works independently as a platform reliability control plane and integrates with existing tools to provide a unified operating layer.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8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818CF8"/>
                </a:solidFill>
                <a:latin typeface="Calibri"/>
              </a:defRPr>
            </a:pPr>
            <a:r>
              <a:t>THE OPERATING MODEL SHIFT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0F4FC"/>
                </a:solidFill>
                <a:latin typeface="Calibri"/>
              </a:defRPr>
            </a:pPr>
            <a:r>
              <a:t>Cloud platforms became complex faster</a:t>
            </a:r>
            <a:br/>
            <a:r>
              <a:t>than operations evolved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Every wave of infrastructure maturity produced a discipline to manage it.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926080"/>
            <a:ext cx="2103120" cy="914400"/>
          </a:xfrm>
          <a:prstGeom prst="roundRect">
            <a:avLst/>
          </a:prstGeom>
          <a:solidFill>
            <a:srgbClr val="15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97180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64748B"/>
                </a:solidFill>
                <a:latin typeface="Calibri"/>
              </a:defRPr>
            </a:pPr>
            <a:r>
              <a:t>2008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2461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64748B"/>
                </a:solidFill>
                <a:latin typeface="Calibri"/>
              </a:defRPr>
            </a:pPr>
            <a:r>
              <a:t>DevOps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315468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64748B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0" y="2926080"/>
            <a:ext cx="2103120" cy="914400"/>
          </a:xfrm>
          <a:prstGeom prst="roundRect">
            <a:avLst/>
          </a:prstGeom>
          <a:solidFill>
            <a:srgbClr val="15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0" y="297180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64748B"/>
                </a:solidFill>
                <a:latin typeface="Calibri"/>
              </a:defRPr>
            </a:pPr>
            <a:r>
              <a:t>2016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32461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64748B"/>
                </a:solidFill>
                <a:latin typeface="Calibri"/>
              </a:defRPr>
            </a:pPr>
            <a:r>
              <a:t>SRE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0" y="315468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64748B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2926080"/>
            <a:ext cx="2103120" cy="914400"/>
          </a:xfrm>
          <a:prstGeom prst="roundRect">
            <a:avLst/>
          </a:prstGeom>
          <a:solidFill>
            <a:srgbClr val="15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297180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64748B"/>
                </a:solidFill>
                <a:latin typeface="Calibri"/>
              </a:defRPr>
            </a:pPr>
            <a:r>
              <a:t>2022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2461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64748B"/>
                </a:solidFill>
                <a:latin typeface="Calibri"/>
              </a:defRPr>
            </a:pPr>
            <a:r>
              <a:t>Platform Eng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315468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64748B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0" y="2926080"/>
            <a:ext cx="2103120" cy="914400"/>
          </a:xfrm>
          <a:prstGeom prst="roundRect">
            <a:avLst/>
          </a:prstGeom>
          <a:solidFill>
            <a:srgbClr val="1A1E3A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0" y="297180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818CF8"/>
                </a:solidFill>
                <a:latin typeface="Calibri"/>
              </a:defRPr>
            </a:pPr>
            <a:r>
              <a:t>Now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32461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0F4FC"/>
                </a:solidFill>
                <a:latin typeface="Calibri"/>
              </a:defRPr>
            </a:pPr>
            <a:r>
              <a:t>PRE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4389120"/>
            <a:ext cx="10332720" cy="1645920"/>
          </a:xfrm>
          <a:prstGeom prst="roundRect">
            <a:avLst/>
          </a:prstGeom>
          <a:solidFill>
            <a:srgbClr val="0F16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14400" y="4389120"/>
            <a:ext cx="10332720" cy="381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80160" y="457200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0F4FC"/>
                </a:solidFill>
                <a:latin typeface="Calibri"/>
              </a:defRPr>
            </a:pPr>
            <a:r>
              <a:t>Platforms must now operate like products — with reliability, governance, operations, and cost control engineered into the system itself.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521208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Calibri"/>
              </a:defRPr>
            </a:pPr>
            <a:r>
              <a:t>This is what Platform Reliability Engineering defines, and what AEGIS operationalizes.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8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818CF8"/>
                </a:solidFill>
                <a:latin typeface="Calibri"/>
              </a:defRPr>
            </a:pPr>
            <a:r>
              <a:t>DISCIPLINE DEFINITION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0F4FC"/>
                </a:solidFill>
                <a:latin typeface="Calibri"/>
              </a:defRPr>
            </a:pPr>
            <a:r>
              <a:t>What is Platform Reliability Engineering?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The discipline of ensuring infrastructure platforms remain: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560320"/>
            <a:ext cx="2926080" cy="384048"/>
          </a:xfrm>
          <a:prstGeom prst="roundRect">
            <a:avLst/>
          </a:prstGeom>
          <a:solidFill>
            <a:srgbClr val="1517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585720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818CF8"/>
                </a:solidFill>
                <a:latin typeface="Calibri"/>
              </a:defRPr>
            </a:pPr>
            <a:r>
              <a:t>Reliable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0" y="2560320"/>
            <a:ext cx="2926080" cy="384048"/>
          </a:xfrm>
          <a:prstGeom prst="roundRect">
            <a:avLst/>
          </a:prstGeom>
          <a:solidFill>
            <a:srgbClr val="0523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0" y="2585720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2D3EE"/>
                </a:solidFill>
                <a:latin typeface="Calibri"/>
              </a:defRPr>
            </a:pPr>
            <a:r>
              <a:t>Governed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0" y="2560320"/>
            <a:ext cx="2926080" cy="384048"/>
          </a:xfrm>
          <a:prstGeom prst="roundRect">
            <a:avLst/>
          </a:prstGeom>
          <a:solidFill>
            <a:srgbClr val="0823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0" y="2585720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34D399"/>
                </a:solidFill>
                <a:latin typeface="Calibri"/>
              </a:defRPr>
            </a:pPr>
            <a:r>
              <a:t>Cost Efficient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3063240"/>
            <a:ext cx="2926080" cy="384048"/>
          </a:xfrm>
          <a:prstGeom prst="roundRect">
            <a:avLst/>
          </a:prstGeom>
          <a:solidFill>
            <a:srgbClr val="291F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088640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BBF24"/>
                </a:solidFill>
                <a:latin typeface="Calibri"/>
              </a:defRPr>
            </a:pPr>
            <a:r>
              <a:t>Secure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4800" y="3063240"/>
            <a:ext cx="2926080" cy="384048"/>
          </a:xfrm>
          <a:prstGeom prst="roundRect">
            <a:avLst/>
          </a:prstGeom>
          <a:solidFill>
            <a:srgbClr val="2912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0" y="3088640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B7185"/>
                </a:solidFill>
                <a:latin typeface="Calibri"/>
              </a:defRPr>
            </a:pPr>
            <a:r>
              <a:t>Operable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0" y="3063240"/>
            <a:ext cx="2926080" cy="384048"/>
          </a:xfrm>
          <a:prstGeom prst="roundRect">
            <a:avLst/>
          </a:prstGeom>
          <a:solidFill>
            <a:srgbClr val="1B17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0" y="3088640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A78BFA"/>
                </a:solidFill>
                <a:latin typeface="Calibri"/>
              </a:defRPr>
            </a:pPr>
            <a:r>
              <a:t>Continuously Improving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9319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4748B"/>
                </a:solidFill>
                <a:latin typeface="Calibri"/>
              </a:defRPr>
            </a:pPr>
            <a:r>
              <a:t>WHERE SRE FOCUSES 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20624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Service reliability — ensuring individual services meet SLOs and handle failures gracefully.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39319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818CF8"/>
                </a:solidFill>
                <a:latin typeface="Calibri"/>
              </a:defRPr>
            </a:pPr>
            <a:r>
              <a:t>PRE FOCUSES 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420624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0F4FC"/>
                </a:solidFill>
                <a:latin typeface="Calibri"/>
              </a:defRPr>
            </a:pPr>
            <a:r>
              <a:t>Platform reliability as a product — encompassing stability, governance, economics, intelligence, and operations maturity.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" y="5303520"/>
            <a:ext cx="1920240" cy="640080"/>
          </a:xfrm>
          <a:prstGeom prst="roundRect">
            <a:avLst/>
          </a:prstGeom>
          <a:solidFill>
            <a:srgbClr val="0F16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539496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0F4FC"/>
                </a:solidFill>
                <a:latin typeface="Calibri"/>
              </a:defRPr>
            </a:pPr>
            <a:r>
              <a:t>Platform Stability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063240" y="5303520"/>
            <a:ext cx="1920240" cy="640080"/>
          </a:xfrm>
          <a:prstGeom prst="roundRect">
            <a:avLst/>
          </a:prstGeom>
          <a:solidFill>
            <a:srgbClr val="0F16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63240" y="539496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0F4FC"/>
                </a:solidFill>
                <a:latin typeface="Calibri"/>
              </a:defRPr>
            </a:pPr>
            <a:r>
              <a:t>Platform Governance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212080" y="5303520"/>
            <a:ext cx="1920240" cy="640080"/>
          </a:xfrm>
          <a:prstGeom prst="roundRect">
            <a:avLst/>
          </a:prstGeom>
          <a:solidFill>
            <a:srgbClr val="0F16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212080" y="539496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0F4FC"/>
                </a:solidFill>
                <a:latin typeface="Calibri"/>
              </a:defRPr>
            </a:pPr>
            <a:r>
              <a:t>Platform Economics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60920" y="5303520"/>
            <a:ext cx="1920240" cy="640080"/>
          </a:xfrm>
          <a:prstGeom prst="roundRect">
            <a:avLst/>
          </a:prstGeom>
          <a:solidFill>
            <a:srgbClr val="0F16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60920" y="539496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0F4FC"/>
                </a:solidFill>
                <a:latin typeface="Calibri"/>
              </a:defRPr>
            </a:pPr>
            <a:r>
              <a:t>Platform Intelligence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509760" y="5303520"/>
            <a:ext cx="1920240" cy="640080"/>
          </a:xfrm>
          <a:prstGeom prst="roundRect">
            <a:avLst/>
          </a:prstGeom>
          <a:solidFill>
            <a:srgbClr val="0F16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509760" y="539496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0F4FC"/>
                </a:solidFill>
                <a:latin typeface="Calibri"/>
              </a:defRPr>
            </a:pPr>
            <a:r>
              <a:t>Ops Maturity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8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818CF8"/>
                </a:solidFill>
                <a:latin typeface="Calibri"/>
              </a:defRPr>
            </a:pPr>
            <a:r>
              <a:t>WHY PRE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0F4FC"/>
                </a:solidFill>
                <a:latin typeface="Calibri"/>
              </a:defRPr>
            </a:pPr>
            <a:r>
              <a:t>Existing disciplines solve parts of the problem.</a:t>
            </a:r>
            <a:br/>
            <a:r>
              <a:t>None own platform operations as a system.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2286000"/>
          <a:ext cx="1033272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44240"/>
                <a:gridCol w="3444240"/>
                <a:gridCol w="3444240"/>
              </a:tblGrid>
              <a:tr h="5334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64748B"/>
                          </a:solidFill>
                          <a:latin typeface="Calibri"/>
                        </a:defRPr>
                      </a:pPr>
                      <a:r>
                        <a:t>Discipline</a:t>
                      </a:r>
                    </a:p>
                  </a:txBody>
                  <a:tcPr>
                    <a:solidFill>
                      <a:srgbClr val="0F162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64748B"/>
                          </a:solidFill>
                          <a:latin typeface="Calibri"/>
                        </a:defRPr>
                      </a:pPr>
                      <a:r>
                        <a:t>Primary Focus</a:t>
                      </a:r>
                    </a:p>
                  </a:txBody>
                  <a:tcPr>
                    <a:solidFill>
                      <a:srgbClr val="0F162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64748B"/>
                          </a:solidFill>
                          <a:latin typeface="Calibri"/>
                        </a:defRPr>
                      </a:pPr>
                      <a:r>
                        <a:t>What It Does Not Own</a:t>
                      </a:r>
                    </a:p>
                  </a:txBody>
                  <a:tcPr>
                    <a:solidFill>
                      <a:srgbClr val="0F1629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0F4FC"/>
                          </a:solidFill>
                          <a:latin typeface="Calibri"/>
                        </a:defRPr>
                      </a:pPr>
                      <a:r>
                        <a:t>SRE</a:t>
                      </a:r>
                    </a:p>
                  </a:txBody>
                  <a:tcPr>
                    <a:solidFill>
                      <a:srgbClr val="0A0F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Reliability of services</a:t>
                      </a:r>
                    </a:p>
                  </a:txBody>
                  <a:tcPr>
                    <a:solidFill>
                      <a:srgbClr val="0A0F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Cost, governance, platform-level operations</a:t>
                      </a:r>
                    </a:p>
                  </a:txBody>
                  <a:tcPr>
                    <a:solidFill>
                      <a:srgbClr val="0A0F1A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0F4FC"/>
                          </a:solidFill>
                          <a:latin typeface="Calibri"/>
                        </a:defRPr>
                      </a:pPr>
                      <a:r>
                        <a:t>Platform Engineering</a:t>
                      </a:r>
                    </a:p>
                  </a:txBody>
                  <a:tcPr>
                    <a:solidFill>
                      <a:srgbClr val="0A0F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Developer experience</a:t>
                      </a:r>
                    </a:p>
                  </a:txBody>
                  <a:tcPr>
                    <a:solidFill>
                      <a:srgbClr val="0A0F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Operational governance, reliability coordination</a:t>
                      </a:r>
                    </a:p>
                  </a:txBody>
                  <a:tcPr>
                    <a:solidFill>
                      <a:srgbClr val="0A0F1A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0F4FC"/>
                          </a:solidFill>
                          <a:latin typeface="Calibri"/>
                        </a:defRPr>
                      </a:pPr>
                      <a:r>
                        <a:t>FinOps</a:t>
                      </a:r>
                    </a:p>
                  </a:txBody>
                  <a:tcPr>
                    <a:solidFill>
                      <a:srgbClr val="0A0F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Cloud cost governance</a:t>
                      </a:r>
                    </a:p>
                  </a:txBody>
                  <a:tcPr>
                    <a:solidFill>
                      <a:srgbClr val="0A0F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Reliability, security, operational workflows</a:t>
                      </a:r>
                    </a:p>
                  </a:txBody>
                  <a:tcPr>
                    <a:solidFill>
                      <a:srgbClr val="0A0F1A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0F4FC"/>
                          </a:solidFill>
                          <a:latin typeface="Calibri"/>
                        </a:defRPr>
                      </a:pPr>
                      <a:r>
                        <a:t>Cloud Security</a:t>
                      </a:r>
                    </a:p>
                  </a:txBody>
                  <a:tcPr>
                    <a:solidFill>
                      <a:srgbClr val="0A0F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Policy and access control</a:t>
                      </a:r>
                    </a:p>
                  </a:txBody>
                  <a:tcPr>
                    <a:solidFill>
                      <a:srgbClr val="0A0F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Cost, reliability, operational execution</a:t>
                      </a:r>
                    </a:p>
                  </a:txBody>
                  <a:tcPr>
                    <a:solidFill>
                      <a:srgbClr val="0A0F1A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818CF8"/>
                          </a:solidFill>
                          <a:latin typeface="Calibri"/>
                        </a:defRPr>
                      </a:pPr>
                      <a:r>
                        <a:t>PRE</a:t>
                      </a:r>
                    </a:p>
                  </a:txBody>
                  <a:tcPr>
                    <a:solidFill>
                      <a:srgbClr val="1418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0F4FC"/>
                          </a:solidFill>
                          <a:latin typeface="Calibri"/>
                        </a:defRPr>
                      </a:pPr>
                      <a:r>
                        <a:t>Unifies all of the above at the platform operations layer</a:t>
                      </a:r>
                    </a:p>
                  </a:txBody>
                  <a:tcPr>
                    <a:solidFill>
                      <a:srgbClr val="1418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0F4FC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4182E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914400" y="56692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PRE does not replace these disciplines. It is the operating model that aligns them — ensuring reliability, governance, cost, and security decisions are made together at the platform layer.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8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818CF8"/>
                </a:solidFill>
                <a:latin typeface="Calibri"/>
              </a:defRPr>
            </a:pPr>
            <a:r>
              <a:t>WHY PRE IS EMERGING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0F4FC"/>
                </a:solidFill>
                <a:latin typeface="Calibri"/>
              </a:defRPr>
            </a:pPr>
            <a:r>
              <a:t>Five Platform Challenges Driving PRE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103120"/>
            <a:ext cx="1965960" cy="3200400"/>
          </a:xfrm>
          <a:prstGeom prst="roundRect">
            <a:avLst/>
          </a:prstGeom>
          <a:solidFill>
            <a:srgbClr val="0F16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2103120"/>
            <a:ext cx="1965960" cy="38100"/>
          </a:xfrm>
          <a:prstGeom prst="rect">
            <a:avLst/>
          </a:prstGeom>
          <a:solidFill>
            <a:srgbClr val="FB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377440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0F4FC"/>
                </a:solidFill>
                <a:latin typeface="Calibri"/>
              </a:defRPr>
            </a:pPr>
            <a:r>
              <a:t>Tool Sprawl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926080"/>
            <a:ext cx="1691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6+ disconnected tools creating operational fragmentation and knowledge silos.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08960" y="2103120"/>
            <a:ext cx="1965960" cy="3200400"/>
          </a:xfrm>
          <a:prstGeom prst="roundRect">
            <a:avLst/>
          </a:prstGeom>
          <a:solidFill>
            <a:srgbClr val="0F16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108960" y="2103120"/>
            <a:ext cx="1965960" cy="381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46120" y="2377440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0F4FC"/>
                </a:solidFill>
                <a:latin typeface="Calibri"/>
              </a:defRPr>
            </a:pPr>
            <a:r>
              <a:t>Operational Toil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46120" y="2926080"/>
            <a:ext cx="1691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Manual investigations, config fixes, approval workflows consuming bandwidth.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03520" y="2103120"/>
            <a:ext cx="1965960" cy="3200400"/>
          </a:xfrm>
          <a:prstGeom prst="roundRect">
            <a:avLst/>
          </a:prstGeom>
          <a:solidFill>
            <a:srgbClr val="0F16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303520" y="2103120"/>
            <a:ext cx="1965960" cy="381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40680" y="2377440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0F4FC"/>
                </a:solidFill>
                <a:latin typeface="Calibri"/>
              </a:defRPr>
            </a:pPr>
            <a:r>
              <a:t>Governance Gaps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40680" y="2926080"/>
            <a:ext cx="1691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Uncontrolled cloud growth, policy violations, shadow infrastructure.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79" y="2103120"/>
            <a:ext cx="1965960" cy="3200400"/>
          </a:xfrm>
          <a:prstGeom prst="roundRect">
            <a:avLst/>
          </a:prstGeom>
          <a:solidFill>
            <a:srgbClr val="0F16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498079" y="2103120"/>
            <a:ext cx="1965960" cy="381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35239" y="2377440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0F4FC"/>
                </a:solidFill>
                <a:latin typeface="Calibri"/>
              </a:defRPr>
            </a:pPr>
            <a:r>
              <a:t>Cost Explosion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35239" y="2926080"/>
            <a:ext cx="1691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Idle resources, overprovisioning, and lack of cost visibility.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692640" y="2103120"/>
            <a:ext cx="1965960" cy="3200400"/>
          </a:xfrm>
          <a:prstGeom prst="roundRect">
            <a:avLst/>
          </a:prstGeom>
          <a:solidFill>
            <a:srgbClr val="0F16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692640" y="2103120"/>
            <a:ext cx="1965960" cy="381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829800" y="2377440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0F4FC"/>
                </a:solidFill>
                <a:latin typeface="Calibri"/>
              </a:defRPr>
            </a:pPr>
            <a:r>
              <a:t>No Platform Intelligence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29800" y="2926080"/>
            <a:ext cx="1691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No health scoring, risk insights, or data-backed operational decisions.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8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7315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818CF8"/>
                </a:solidFill>
                <a:latin typeface="Calibri"/>
              </a:defRPr>
            </a:pPr>
            <a:r>
              <a:t>INTRODUCING AEGIS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1887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0F4FC"/>
                </a:solidFill>
                <a:latin typeface="Calibri"/>
              </a:defRPr>
            </a:pPr>
            <a:r>
              <a:t>AEGIS operationalizes</a:t>
            </a:r>
            <a:br/>
            <a:r>
              <a:t>Platform Reliability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4688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  <a:latin typeface="Calibri"/>
              </a:defRPr>
            </a:pPr>
            <a:r>
              <a:t>AEGIS is the platform reliability control plane that turns PRE from concept into operational reality — as an independent system first, and an integrated operating layer second.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28800" y="3840480"/>
            <a:ext cx="8503920" cy="2011680"/>
          </a:xfrm>
          <a:prstGeom prst="roundRect">
            <a:avLst/>
          </a:prstGeom>
          <a:solidFill>
            <a:srgbClr val="0F1629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28800" y="3840480"/>
            <a:ext cx="8503920" cy="381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94560" y="411480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0F4FC"/>
                </a:solidFill>
                <a:latin typeface="Calibri"/>
              </a:defRPr>
            </a:pPr>
            <a:r>
              <a:t>Every company that operates complex cloud platforms will eventually need a Platform Reliability Engineering function.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94560" y="484632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Calibri"/>
              </a:defRPr>
            </a:pPr>
            <a:r>
              <a:t>AEGIS brings reliability, governance, operations, and cost into one operational system. It works independently as a platform reliability control plane and integrates with existing tools to provide a unified operating layer.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8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818CF8"/>
                </a:solidFill>
                <a:latin typeface="Calibri"/>
              </a:defRPr>
            </a:pPr>
            <a: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0F4FC"/>
                </a:solidFill>
                <a:latin typeface="Calibri"/>
              </a:defRPr>
            </a:pPr>
            <a:r>
              <a:t>Modern infrastructure has layers.</a:t>
            </a:r>
            <a:br/>
            <a:r>
              <a:t>Operations did not. Until now.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0" y="2103120"/>
            <a:ext cx="8229600" cy="822960"/>
          </a:xfrm>
          <a:prstGeom prst="roundRect">
            <a:avLst/>
          </a:prstGeom>
          <a:solidFill>
            <a:srgbClr val="0F16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0" y="21488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4748B"/>
                </a:solidFill>
                <a:latin typeface="Calibri"/>
              </a:defRPr>
            </a:pPr>
            <a:r>
              <a:t>WORKLOADS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0" y="214884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Applications and services running on your platform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28800" y="3154680"/>
            <a:ext cx="8229600" cy="822960"/>
          </a:xfrm>
          <a:prstGeom prst="roundRect">
            <a:avLst/>
          </a:prstGeom>
          <a:solidFill>
            <a:srgbClr val="0F16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03120" y="32004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2D3EE"/>
                </a:solidFill>
                <a:latin typeface="Calibri"/>
              </a:defRPr>
            </a:pPr>
            <a:r>
              <a:t>INFRASTRUCTURE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320040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Cloud accounts, clusters, networks, compute, storage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28800" y="4206240"/>
            <a:ext cx="8229600" cy="822960"/>
          </a:xfrm>
          <a:prstGeom prst="roundRect">
            <a:avLst/>
          </a:prstGeom>
          <a:solidFill>
            <a:srgbClr val="0F16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0" y="42519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4D399"/>
                </a:solidFill>
                <a:latin typeface="Calibri"/>
              </a:defRPr>
            </a:pPr>
            <a:r>
              <a:t>ORCHESTRATION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425196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Kubernetes, container orchestration, scheduling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828800" y="5257799"/>
            <a:ext cx="8229600" cy="822960"/>
          </a:xfrm>
          <a:prstGeom prst="roundRect">
            <a:avLst/>
          </a:prstGeom>
          <a:solidFill>
            <a:srgbClr val="14182E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103120" y="530351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818CF8"/>
                </a:solidFill>
                <a:latin typeface="Calibri"/>
              </a:defRPr>
            </a:pPr>
            <a:r>
              <a:t>OPERATIONS CONTROL PLANE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5303519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0F4FC"/>
                </a:solidFill>
                <a:latin typeface="Calibri"/>
              </a:defRPr>
            </a:pPr>
            <a:r>
              <a:t>AEGIS — visibility, governance, execution, intelligence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6692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AEGIS is the primary operational system for platform reliability — able to operate independently through direct platform intelligence, while integrating with your existing stack.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8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818CF8"/>
                </a:solidFill>
                <a:latin typeface="Calibri"/>
              </a:defRPr>
            </a:pPr>
            <a:r>
              <a:t>OPERATING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0F4FC"/>
                </a:solidFill>
                <a:latin typeface="Calibri"/>
              </a:defRPr>
            </a:pPr>
            <a:r>
              <a:t>The PRE operational 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Not features. An operating model. AEGIS enables this continuous loop across your entire platform.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743200"/>
            <a:ext cx="1554480" cy="1097280"/>
          </a:xfrm>
          <a:prstGeom prst="roundRect">
            <a:avLst/>
          </a:prstGeom>
          <a:solidFill>
            <a:srgbClr val="0F16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83464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0F4FC"/>
                </a:solidFill>
                <a:latin typeface="Calibri"/>
              </a:defRPr>
            </a:pPr>
            <a:r>
              <a:t>Discover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20040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Inventory &amp; baseline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68880" y="301752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4748B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0" y="2743200"/>
            <a:ext cx="1554480" cy="1097280"/>
          </a:xfrm>
          <a:prstGeom prst="roundRect">
            <a:avLst/>
          </a:prstGeom>
          <a:solidFill>
            <a:srgbClr val="0F16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0" y="283464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0F4FC"/>
                </a:solidFill>
                <a:latin typeface="Calibri"/>
              </a:defRPr>
            </a:pPr>
            <a:r>
              <a:t>Understand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320040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Signals &amp; context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301752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4748B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0" y="2743200"/>
            <a:ext cx="1554480" cy="1097280"/>
          </a:xfrm>
          <a:prstGeom prst="roundRect">
            <a:avLst/>
          </a:prstGeom>
          <a:solidFill>
            <a:srgbClr val="0F16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283464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0F4FC"/>
                </a:solidFill>
                <a:latin typeface="Calibri"/>
              </a:defRPr>
            </a:pPr>
            <a:r>
              <a:t>Decide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320040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Policy evaluation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301752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4748B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2743200"/>
            <a:ext cx="1554480" cy="1097280"/>
          </a:xfrm>
          <a:prstGeom prst="roundRect">
            <a:avLst/>
          </a:prstGeom>
          <a:solidFill>
            <a:srgbClr val="0F16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283464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0F4FC"/>
                </a:solidFill>
                <a:latin typeface="Calibri"/>
              </a:defRPr>
            </a:pPr>
            <a:r>
              <a:t>Govern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320040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Approval &amp; control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80" y="301752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4748B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0" y="2743200"/>
            <a:ext cx="1554480" cy="1097280"/>
          </a:xfrm>
          <a:prstGeom prst="roundRect">
            <a:avLst/>
          </a:prstGeom>
          <a:solidFill>
            <a:srgbClr val="0F16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0" y="283464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0F4FC"/>
                </a:solidFill>
                <a:latin typeface="Calibri"/>
              </a:defRPr>
            </a:pPr>
            <a:r>
              <a:t>Execute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320040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Safe operations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84080" y="301752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4748B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058400" y="2743200"/>
            <a:ext cx="1554480" cy="1097280"/>
          </a:xfrm>
          <a:prstGeom prst="roundRect">
            <a:avLst/>
          </a:prstGeom>
          <a:solidFill>
            <a:srgbClr val="0F16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58400" y="283464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0F4FC"/>
                </a:solidFill>
                <a:latin typeface="Calibri"/>
              </a:defRPr>
            </a:pPr>
            <a:r>
              <a:t>Improve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0" y="320040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Intelligence &amp; learning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42062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4748B"/>
                </a:solidFill>
                <a:latin typeface="Calibri"/>
              </a:defRPr>
            </a:pPr>
            <a:r>
              <a:t>Every action through this loop produces an immutable audit record.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14400" y="4754880"/>
            <a:ext cx="10332720" cy="548640"/>
          </a:xfrm>
          <a:prstGeom prst="roundRect">
            <a:avLst/>
          </a:prstGeom>
          <a:solidFill>
            <a:srgbClr val="0A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48006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818CF8"/>
                </a:solidFill>
                <a:latin typeface="Calibri"/>
              </a:defRPr>
            </a:pPr>
            <a:r>
              <a:t>←  Continuous Loop  →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8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818CF8"/>
                </a:solidFill>
                <a:latin typeface="Calibri"/>
              </a:defRPr>
            </a:pPr>
            <a:r>
              <a:t>PRE CAPABILITY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8229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0F4FC"/>
                </a:solidFill>
                <a:latin typeface="Calibri"/>
              </a:defRPr>
            </a:pPr>
            <a:r>
              <a:t>Four capability domains. One operational system.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645920"/>
            <a:ext cx="5029200" cy="2286000"/>
          </a:xfrm>
          <a:prstGeom prst="roundRect">
            <a:avLst/>
          </a:prstGeom>
          <a:solidFill>
            <a:srgbClr val="0F16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1645920"/>
            <a:ext cx="5029200" cy="381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783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818CF8"/>
                </a:solidFill>
                <a:latin typeface="Calibri"/>
              </a:defRPr>
            </a:pPr>
            <a:r>
              <a:t>DOMAIN 01 — FOUNDATION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0574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0F4FC"/>
                </a:solidFill>
                <a:latin typeface="Calibri"/>
              </a:defRPr>
            </a:pPr>
            <a:r>
              <a:t>Know your platform.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42316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Resource discovery &amp; cloud inventory</a:t>
            </a:r>
            <a:br/>
            <a:r>
              <a:t>Drift detection &amp; structural diffing</a:t>
            </a:r>
            <a:br/>
            <a:r>
              <a:t>Integration mapping &amp; graph edges</a:t>
            </a:r>
            <a:br/>
            <a:r>
              <a:t>Platform baseline visibility</a:t>
            </a:r>
            <a:br/>
            <a:r>
              <a:t>Canonical normalization &amp; hashing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5029200" cy="2286000"/>
          </a:xfrm>
          <a:prstGeom prst="roundRect">
            <a:avLst/>
          </a:prstGeom>
          <a:solidFill>
            <a:srgbClr val="0F16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645920"/>
            <a:ext cx="5029200" cy="381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783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2D3EE"/>
                </a:solidFill>
                <a:latin typeface="Calibri"/>
              </a:defRPr>
            </a:pPr>
            <a:r>
              <a:t>DOMAIN 02 — OPERATIONS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0574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0F4FC"/>
                </a:solidFill>
                <a:latin typeface="Calibri"/>
              </a:defRPr>
            </a:pPr>
            <a:r>
              <a:t>Run your platform reliably.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42316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Incident coordination &amp; unified triage</a:t>
            </a:r>
            <a:br/>
            <a:r>
              <a:t>Reliability workflows &amp; SLO management</a:t>
            </a:r>
            <a:br/>
            <a:r>
              <a:t>Service intelligence &amp; golden signals</a:t>
            </a:r>
            <a:br/>
            <a:r>
              <a:t>Change correlation &amp; root cause analysis</a:t>
            </a:r>
            <a:br/>
            <a:r>
              <a:t>Operational analytics &amp; war rooms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4160520"/>
            <a:ext cx="5029200" cy="2286000"/>
          </a:xfrm>
          <a:prstGeom prst="roundRect">
            <a:avLst/>
          </a:prstGeom>
          <a:solidFill>
            <a:srgbClr val="0F16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14400" y="4160520"/>
            <a:ext cx="5029200" cy="381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42976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4D399"/>
                </a:solidFill>
                <a:latin typeface="Calibri"/>
              </a:defRPr>
            </a:pPr>
            <a:r>
              <a:t>DOMAIN 03 — 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45720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0F4FC"/>
                </a:solidFill>
                <a:latin typeface="Calibri"/>
              </a:defRPr>
            </a:pPr>
            <a:r>
              <a:t>Enforce governance safely.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493776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Policy enforcement &amp; fail-safe decisions</a:t>
            </a:r>
            <a:br/>
            <a:r>
              <a:t>Approval workflows with SLA deadlines</a:t>
            </a:r>
            <a:br/>
            <a:r>
              <a:t>Risk visibility &amp; compliance pathways</a:t>
            </a:r>
            <a:br/>
            <a:r>
              <a:t>Execution guardrails &amp; token validation</a:t>
            </a:r>
            <a:br/>
            <a:r>
              <a:t>Immutable evidence bundles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4160520"/>
            <a:ext cx="5029200" cy="2286000"/>
          </a:xfrm>
          <a:prstGeom prst="roundRect">
            <a:avLst/>
          </a:prstGeom>
          <a:solidFill>
            <a:srgbClr val="0F16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4160520"/>
            <a:ext cx="5029200" cy="381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42976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BBF24"/>
                </a:solidFill>
                <a:latin typeface="Calibri"/>
              </a:defRPr>
            </a:pPr>
            <a:r>
              <a:t>DOMAIN 04 — INTELLIGENCE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45720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0F4FC"/>
                </a:solidFill>
                <a:latin typeface="Calibri"/>
              </a:defRPr>
            </a:pPr>
            <a:r>
              <a:t>Continuously improve.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493776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Cost intelligence &amp; anomaly detection</a:t>
            </a:r>
            <a:br/>
            <a:r>
              <a:t>Reliability insights &amp; predictive signals</a:t>
            </a:r>
            <a:br/>
            <a:r>
              <a:t>Platform maturity scoring (PRE-100)</a:t>
            </a:r>
            <a:br/>
            <a:r>
              <a:t>Architecture risk assessment</a:t>
            </a:r>
            <a:br/>
            <a:r>
              <a:t>Executive intelligence &amp; decision support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8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818CF8"/>
                </a:solidFill>
                <a:latin typeface="Calibri"/>
              </a:defRPr>
            </a:pPr>
            <a:r>
              <a:t>OPERATING PRINCIPLES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8229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0F4FC"/>
                </a:solidFill>
                <a:latin typeface="Calibri"/>
              </a:defRPr>
            </a:pPr>
            <a:r>
              <a:t>Five PRE Principles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828800"/>
            <a:ext cx="1965960" cy="4114800"/>
          </a:xfrm>
          <a:prstGeom prst="roundRect">
            <a:avLst/>
          </a:prstGeom>
          <a:solidFill>
            <a:srgbClr val="0F16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1965960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818CF8"/>
                </a:solidFill>
                <a:latin typeface="Calibri"/>
              </a:defRPr>
            </a:pPr>
            <a:r>
              <a:t>PRINCIPLE 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286000"/>
            <a:ext cx="1691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0F4FC"/>
                </a:solidFill>
                <a:latin typeface="Calibri"/>
              </a:defRPr>
            </a:pPr>
            <a:r>
              <a:t>Reliability is Engineered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926080"/>
            <a:ext cx="1691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Design failure tolerance, remove single points of failure, define reliability targets.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4297680"/>
            <a:ext cx="1783080" cy="914400"/>
          </a:xfrm>
          <a:prstGeom prst="roundRect">
            <a:avLst/>
          </a:prstGeom>
          <a:solidFill>
            <a:srgbClr val="121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4389120"/>
            <a:ext cx="1600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818CF8"/>
                </a:solidFill>
                <a:latin typeface="Calibri"/>
              </a:defRPr>
            </a:pPr>
            <a:r>
              <a:t>"Reliability cannot depend on hero engineers."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108960" y="1828800"/>
            <a:ext cx="1965960" cy="4114800"/>
          </a:xfrm>
          <a:prstGeom prst="roundRect">
            <a:avLst/>
          </a:prstGeom>
          <a:solidFill>
            <a:srgbClr val="0F16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46120" y="1965960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818CF8"/>
                </a:solidFill>
                <a:latin typeface="Calibri"/>
              </a:defRPr>
            </a:pPr>
            <a:r>
              <a:t>PRINCIPLE 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46120" y="2286000"/>
            <a:ext cx="1691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0F4FC"/>
                </a:solidFill>
                <a:latin typeface="Calibri"/>
              </a:defRPr>
            </a:pPr>
            <a:r>
              <a:t>Governance Must Be Embedded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2926080"/>
            <a:ext cx="1691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Governance must exist inside provisioning, change, and deployment workflows.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00400" y="4297680"/>
            <a:ext cx="1783080" cy="914400"/>
          </a:xfrm>
          <a:prstGeom prst="roundRect">
            <a:avLst/>
          </a:prstGeom>
          <a:solidFill>
            <a:srgbClr val="121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91840" y="4389120"/>
            <a:ext cx="1600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818CF8"/>
                </a:solidFill>
                <a:latin typeface="Calibri"/>
              </a:defRPr>
            </a:pPr>
            <a:r>
              <a:t>"No change without governance validation."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303520" y="1828800"/>
            <a:ext cx="1965960" cy="4114800"/>
          </a:xfrm>
          <a:prstGeom prst="roundRect">
            <a:avLst/>
          </a:prstGeom>
          <a:solidFill>
            <a:srgbClr val="0F16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40680" y="1965960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818CF8"/>
                </a:solidFill>
                <a:latin typeface="Calibri"/>
              </a:defRPr>
            </a:pPr>
            <a:r>
              <a:t>PRINCIPLE 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40680" y="2286000"/>
            <a:ext cx="1691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0F4FC"/>
                </a:solidFill>
                <a:latin typeface="Calibri"/>
              </a:defRPr>
            </a:pPr>
            <a:r>
              <a:t>Platforms Are Products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40680" y="2926080"/>
            <a:ext cx="1691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Platforms require a roadmap, ownership, SLAs, and experience design.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394960" y="4297680"/>
            <a:ext cx="1783080" cy="914400"/>
          </a:xfrm>
          <a:prstGeom prst="roundRect">
            <a:avLst/>
          </a:prstGeom>
          <a:solidFill>
            <a:srgbClr val="121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0" y="4389120"/>
            <a:ext cx="1600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818CF8"/>
                </a:solidFill>
                <a:latin typeface="Calibri"/>
              </a:defRPr>
            </a:pPr>
            <a:r>
              <a:t>"Treat your platform like a product your teams depend on."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98079" y="1828800"/>
            <a:ext cx="1965960" cy="4114800"/>
          </a:xfrm>
          <a:prstGeom prst="roundRect">
            <a:avLst/>
          </a:prstGeom>
          <a:solidFill>
            <a:srgbClr val="0F16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35239" y="1965960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818CF8"/>
                </a:solidFill>
                <a:latin typeface="Calibri"/>
              </a:defRPr>
            </a:pPr>
            <a:r>
              <a:t>PRINCIPLE 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35239" y="2286000"/>
            <a:ext cx="1691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0F4FC"/>
                </a:solidFill>
                <a:latin typeface="Calibri"/>
              </a:defRPr>
            </a:pPr>
            <a:r>
              <a:t>Automation is Mandatory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35239" y="2926080"/>
            <a:ext cx="1691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Provisioning, scaling, recovery, governance, and incident response must be automated.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589519" y="4297680"/>
            <a:ext cx="1783080" cy="914400"/>
          </a:xfrm>
          <a:prstGeom prst="roundRect">
            <a:avLst/>
          </a:prstGeom>
          <a:solidFill>
            <a:srgbClr val="121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80959" y="4389120"/>
            <a:ext cx="1600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818CF8"/>
                </a:solidFill>
                <a:latin typeface="Calibri"/>
              </a:defRPr>
            </a:pPr>
            <a:r>
              <a:t>"If it is repeated, it must be automated."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692640" y="1828800"/>
            <a:ext cx="1965960" cy="4114800"/>
          </a:xfrm>
          <a:prstGeom prst="roundRect">
            <a:avLst/>
          </a:prstGeom>
          <a:solidFill>
            <a:srgbClr val="0F16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829800" y="1965960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818CF8"/>
                </a:solidFill>
                <a:latin typeface="Calibri"/>
              </a:defRPr>
            </a:pPr>
            <a:r>
              <a:t>PRINCIPLE 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29800" y="2286000"/>
            <a:ext cx="1691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0F4FC"/>
                </a:solidFill>
                <a:latin typeface="Calibri"/>
              </a:defRPr>
            </a:pPr>
            <a:r>
              <a:t>Data Drives Decisions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29800" y="2926080"/>
            <a:ext cx="1691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Operational decisions must be data-backed through health scoring and metrics.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784080" y="4297680"/>
            <a:ext cx="1783080" cy="914400"/>
          </a:xfrm>
          <a:prstGeom prst="roundRect">
            <a:avLst/>
          </a:prstGeom>
          <a:solidFill>
            <a:srgbClr val="121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875520" y="4389120"/>
            <a:ext cx="1600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818CF8"/>
                </a:solidFill>
                <a:latin typeface="Calibri"/>
              </a:defRPr>
            </a:pPr>
            <a:r>
              <a:t>"Data must guide every platform decision."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8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818CF8"/>
                </a:solidFill>
                <a:latin typeface="Calibri"/>
              </a:defRPr>
            </a:pPr>
            <a:r>
              <a:t>PRE-100 MATURITY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0F4FC"/>
                </a:solidFill>
                <a:latin typeface="Calibri"/>
              </a:defRPr>
            </a:pPr>
            <a:r>
              <a:t>Five levels of platform maturity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AEGIS moves organizations up this curve — from reactive firefighting to autonomous platform operations.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743200"/>
            <a:ext cx="10332720" cy="38100"/>
          </a:xfrm>
          <a:prstGeom prst="rect">
            <a:avLst/>
          </a:prstGeom>
          <a:solidFill>
            <a:srgbClr val="1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737360" y="2616200"/>
            <a:ext cx="304800" cy="304800"/>
          </a:xfrm>
          <a:prstGeom prst="ellipse">
            <a:avLst/>
          </a:prstGeom>
          <a:solidFill>
            <a:srgbClr val="0A0F1A"/>
          </a:solidFill>
          <a:ln w="25400">
            <a:solidFill>
              <a:srgbClr val="1A25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91640" y="2641600"/>
            <a:ext cx="3048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64748B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2004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0F4FC"/>
                </a:solidFill>
                <a:latin typeface="Calibri"/>
              </a:defRPr>
            </a:pPr>
            <a:r>
              <a:t>Reactive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520440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Manual operations, firefighting,</a:t>
            </a:r>
            <a:br/>
            <a:r>
              <a:t>limited visibility.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34440" y="4572000"/>
            <a:ext cx="1280160" cy="320040"/>
          </a:xfrm>
          <a:prstGeom prst="roundRect">
            <a:avLst/>
          </a:prstGeom>
          <a:solidFill>
            <a:srgbClr val="1F0E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34440" y="457200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B7185"/>
                </a:solidFill>
                <a:latin typeface="Calibri"/>
              </a:defRPr>
            </a:pPr>
            <a:r>
              <a:t>HIGH RISK</a:t>
            </a:r>
          </a:p>
        </p:txBody>
      </p:sp>
      <p:sp>
        <p:nvSpPr>
          <p:cNvPr id="12" name="Oval 11"/>
          <p:cNvSpPr/>
          <p:nvPr/>
        </p:nvSpPr>
        <p:spPr>
          <a:xfrm>
            <a:off x="3840480" y="2616200"/>
            <a:ext cx="304800" cy="304800"/>
          </a:xfrm>
          <a:prstGeom prst="ellipse">
            <a:avLst/>
          </a:prstGeom>
          <a:solidFill>
            <a:srgbClr val="0A0F1A"/>
          </a:solidFill>
          <a:ln w="25400">
            <a:solidFill>
              <a:srgbClr val="1A25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94760" y="2641600"/>
            <a:ext cx="3048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64748B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0" y="32004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0F4FC"/>
                </a:solidFill>
                <a:latin typeface="Calibri"/>
              </a:defRPr>
            </a:pPr>
            <a:r>
              <a:t>Managed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3520440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Basic monitoring, defined</a:t>
            </a:r>
            <a:br/>
            <a:r>
              <a:t>processes. Human-dependent.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37560" y="4572000"/>
            <a:ext cx="1280160" cy="320040"/>
          </a:xfrm>
          <a:prstGeom prst="roundRect">
            <a:avLst/>
          </a:prstGeom>
          <a:solidFill>
            <a:srgbClr val="1F17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37560" y="457200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BBF24"/>
                </a:solidFill>
                <a:latin typeface="Calibri"/>
              </a:defRPr>
            </a:pPr>
            <a:r>
              <a:t>MODERATE</a:t>
            </a:r>
          </a:p>
        </p:txBody>
      </p:sp>
      <p:sp>
        <p:nvSpPr>
          <p:cNvPr id="18" name="Oval 17"/>
          <p:cNvSpPr/>
          <p:nvPr/>
        </p:nvSpPr>
        <p:spPr>
          <a:xfrm>
            <a:off x="5943600" y="2616200"/>
            <a:ext cx="304800" cy="304800"/>
          </a:xfrm>
          <a:prstGeom prst="ellipse">
            <a:avLst/>
          </a:prstGeom>
          <a:solidFill>
            <a:srgbClr val="0A0F1A"/>
          </a:solidFill>
          <a:ln w="25400">
            <a:solidFill>
              <a:srgbClr val="1A25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97880" y="2641600"/>
            <a:ext cx="3048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64748B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20640" y="32004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0F4FC"/>
                </a:solidFill>
                <a:latin typeface="Calibri"/>
              </a:defRPr>
            </a:pPr>
            <a:r>
              <a:t>Standardized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20640" y="3520440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Defined standards, automation</a:t>
            </a:r>
            <a:br/>
            <a:r>
              <a:t>introduced, platform baselines.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40680" y="4572000"/>
            <a:ext cx="1280160" cy="320040"/>
          </a:xfrm>
          <a:prstGeom prst="roundRect">
            <a:avLst/>
          </a:prstGeom>
          <a:solidFill>
            <a:srgbClr val="041A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40680" y="457200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22D3EE"/>
                </a:solidFill>
                <a:latin typeface="Calibri"/>
              </a:defRPr>
            </a:pPr>
            <a:r>
              <a:t>CONSISTENT</a:t>
            </a:r>
          </a:p>
        </p:txBody>
      </p:sp>
      <p:sp>
        <p:nvSpPr>
          <p:cNvPr id="24" name="Oval 23"/>
          <p:cNvSpPr/>
          <p:nvPr/>
        </p:nvSpPr>
        <p:spPr>
          <a:xfrm>
            <a:off x="8046719" y="2616200"/>
            <a:ext cx="304800" cy="304800"/>
          </a:xfrm>
          <a:prstGeom prst="ellipse">
            <a:avLst/>
          </a:prstGeom>
          <a:solidFill>
            <a:srgbClr val="0A0F1A"/>
          </a:solidFill>
          <a:ln w="25400">
            <a:solidFill>
              <a:srgbClr val="1A25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00999" y="2641600"/>
            <a:ext cx="3048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64748B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23759" y="32004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0F4FC"/>
                </a:solidFill>
                <a:latin typeface="Calibri"/>
              </a:defRPr>
            </a:pPr>
            <a:r>
              <a:t>Proactive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23759" y="3520440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Predictive insights, risk detection,</a:t>
            </a:r>
            <a:br/>
            <a:r>
              <a:t>cost intelligence, reliability scoring.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543799" y="4572000"/>
            <a:ext cx="1280160" cy="320040"/>
          </a:xfrm>
          <a:prstGeom prst="roundRect">
            <a:avLst/>
          </a:prstGeom>
          <a:solidFill>
            <a:srgbClr val="061A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43799" y="457200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34D399"/>
                </a:solidFill>
                <a:latin typeface="Calibri"/>
              </a:defRPr>
            </a:pPr>
            <a:r>
              <a:t>PREVENTIVE</a:t>
            </a:r>
          </a:p>
        </p:txBody>
      </p:sp>
      <p:sp>
        <p:nvSpPr>
          <p:cNvPr id="30" name="Oval 29"/>
          <p:cNvSpPr/>
          <p:nvPr/>
        </p:nvSpPr>
        <p:spPr>
          <a:xfrm>
            <a:off x="10149840" y="2616200"/>
            <a:ext cx="304800" cy="304800"/>
          </a:xfrm>
          <a:prstGeom prst="ellipse">
            <a:avLst/>
          </a:prstGeom>
          <a:solidFill>
            <a:srgbClr val="6366F1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104120" y="2641600"/>
            <a:ext cx="3048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26880" y="32004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0F4FC"/>
                </a:solidFill>
                <a:latin typeface="Calibri"/>
              </a:defRPr>
            </a:pPr>
            <a:r>
              <a:t>Autonomous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26880" y="3520440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Systems that continuously detect,</a:t>
            </a:r>
            <a:br/>
            <a:r>
              <a:t>prioritize, and drive corrective action.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646920" y="4572000"/>
            <a:ext cx="1280160" cy="320040"/>
          </a:xfrm>
          <a:prstGeom prst="roundRect">
            <a:avLst/>
          </a:prstGeom>
          <a:solidFill>
            <a:srgbClr val="101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46920" y="457200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818CF8"/>
                </a:solidFill>
                <a:latin typeface="Calibri"/>
              </a:defRPr>
            </a:pPr>
            <a:r>
              <a:t>PRE EVOLUTION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8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818CF8"/>
                </a:solidFill>
                <a:latin typeface="Calibri"/>
              </a:defRPr>
            </a:pPr>
            <a:r>
              <a:t>PRE STANDARDS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8229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0F4FC"/>
                </a:solidFill>
                <a:latin typeface="Calibri"/>
              </a:defRPr>
            </a:pPr>
            <a:r>
              <a:t>Platform Standard Areas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645920"/>
            <a:ext cx="3291840" cy="2148840"/>
          </a:xfrm>
          <a:prstGeom prst="roundRect">
            <a:avLst/>
          </a:prstGeom>
          <a:solidFill>
            <a:srgbClr val="0F16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73736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0F4FC"/>
                </a:solidFill>
                <a:latin typeface="Calibri"/>
              </a:defRPr>
            </a:pPr>
            <a:r>
              <a:t>Reliability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10312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✓  SLIs defined for all services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46888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✓  SLOs enforced with error budgets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83464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✓  Availability &amp; recovery targets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20040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✓  Failure testing conducted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645920"/>
            <a:ext cx="3291840" cy="2148840"/>
          </a:xfrm>
          <a:prstGeom prst="roundRect">
            <a:avLst/>
          </a:prstGeom>
          <a:solidFill>
            <a:srgbClr val="0F16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173736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0F4FC"/>
                </a:solidFill>
                <a:latin typeface="Calibri"/>
              </a:defRPr>
            </a:pPr>
            <a:r>
              <a:t>Governance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210312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✓  RBAC &amp; least privilege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46888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✓  Policy enforcement automated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283464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✓  Change approvals required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320040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✓  Compliance validation continuous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55280" y="1645920"/>
            <a:ext cx="3291840" cy="2148840"/>
          </a:xfrm>
          <a:prstGeom prst="roundRect">
            <a:avLst/>
          </a:prstGeom>
          <a:solidFill>
            <a:srgbClr val="0F16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38160" y="173736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0F4FC"/>
                </a:solidFill>
                <a:latin typeface="Calibri"/>
              </a:defRPr>
            </a:pPr>
            <a:r>
              <a:t>Financial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210312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✓  Cost visibility &amp; allocation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8160" y="246888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✓  Anomaly detection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60" y="283464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✓  Optimization policies enforced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38160" y="320040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✓  Budget enforcement active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" y="4023360"/>
            <a:ext cx="3291840" cy="2148840"/>
          </a:xfrm>
          <a:prstGeom prst="roundRect">
            <a:avLst/>
          </a:prstGeom>
          <a:solidFill>
            <a:srgbClr val="0F16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" y="411480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0F4FC"/>
                </a:solidFill>
                <a:latin typeface="Calibri"/>
              </a:defRPr>
            </a:pPr>
            <a:r>
              <a:t>Operational Excellence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448056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✓  MTTR tracked and improving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484632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✓  Change failure rate monitored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521208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✓  Automation coverage measured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" y="557784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✓  Reliability reviews scheduled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434840" y="4023360"/>
            <a:ext cx="3291840" cy="2148840"/>
          </a:xfrm>
          <a:prstGeom prst="roundRect">
            <a:avLst/>
          </a:prstGeom>
          <a:solidFill>
            <a:srgbClr val="0F16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17720" y="411480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0F4FC"/>
                </a:solidFill>
                <a:latin typeface="Calibri"/>
              </a:defRPr>
            </a:pPr>
            <a:r>
              <a:t>Intelligence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17720" y="448056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✓  Platform maturity measured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17720" y="484632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✓  Reliability posture scored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17720" y="521208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✓  Risk exposure quantified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17720" y="557784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✓  Decision support automated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955280" y="4023360"/>
            <a:ext cx="3291840" cy="2148840"/>
          </a:xfrm>
          <a:prstGeom prst="roundRect">
            <a:avLst/>
          </a:prstGeom>
          <a:solidFill>
            <a:srgbClr val="0F16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138160" y="411480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0F4FC"/>
                </a:solidFill>
                <a:latin typeface="Calibri"/>
              </a:defRPr>
            </a:pPr>
            <a:r>
              <a:t>Key PRE Metrics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38160" y="448056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✓  Mean Time to Resolve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38160" y="484632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✓  Change Failure Rate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38160" y="521208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✓  Automation Coverage 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138160" y="557784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✓  Platform Maturity Score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8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818CF8"/>
                </a:solidFill>
                <a:latin typeface="Calibri"/>
              </a:defRPr>
            </a:pPr>
            <a:r>
              <a:t>EXPECTED OUTCOMES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0F4FC"/>
                </a:solidFill>
                <a:latin typeface="Calibri"/>
              </a:defRPr>
            </a:pPr>
            <a:r>
              <a:t>What PRE Delivers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Organizations adopting PRE can expect measurable improvements across four areas.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560320"/>
            <a:ext cx="2514600" cy="2286000"/>
          </a:xfrm>
          <a:prstGeom prst="roundRect">
            <a:avLst/>
          </a:prstGeom>
          <a:solidFill>
            <a:srgbClr val="0F16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0F4FC"/>
                </a:solidFill>
                <a:latin typeface="Calibri"/>
              </a:defRPr>
            </a:pPr>
            <a:r>
              <a:t>Reduce Operational Toil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2148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Automate repetitive workflows, investigations, and manual coordination across teams.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0" y="2560320"/>
            <a:ext cx="2514600" cy="2286000"/>
          </a:xfrm>
          <a:prstGeom prst="roundRect">
            <a:avLst/>
          </a:prstGeom>
          <a:solidFill>
            <a:srgbClr val="0F16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0" y="2743200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0F4FC"/>
                </a:solidFill>
                <a:latin typeface="Calibri"/>
              </a:defRPr>
            </a:pPr>
            <a:r>
              <a:t>Improve Platform Uptime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3291840"/>
            <a:ext cx="2148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Proactive risk detection and reliability engineering reduce unplanned outages.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2560320"/>
            <a:ext cx="2514600" cy="2286000"/>
          </a:xfrm>
          <a:prstGeom prst="roundRect">
            <a:avLst/>
          </a:prstGeom>
          <a:solidFill>
            <a:srgbClr val="0F16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2743200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0F4FC"/>
                </a:solidFill>
                <a:latin typeface="Calibri"/>
              </a:defRPr>
            </a:pPr>
            <a:r>
              <a:t>Reduce Incident MTTR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3291840"/>
            <a:ext cx="2148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Unified context, automated triage, and correlated signals accelerate resolution.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2560320"/>
            <a:ext cx="2514600" cy="2286000"/>
          </a:xfrm>
          <a:prstGeom prst="roundRect">
            <a:avLst/>
          </a:prstGeom>
          <a:solidFill>
            <a:srgbClr val="0F16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2743200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0F4FC"/>
                </a:solidFill>
                <a:latin typeface="Calibri"/>
              </a:defRPr>
            </a:pPr>
            <a:r>
              <a:t>Improve Cloud Cost Control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3291840"/>
            <a:ext cx="2148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Continuous cost visibility, anomaly detection, and optimization policies.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286000" y="5212080"/>
            <a:ext cx="7589520" cy="914400"/>
          </a:xfrm>
          <a:prstGeom prst="roundRect">
            <a:avLst/>
          </a:prstGeom>
          <a:solidFill>
            <a:srgbClr val="14182E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286000" y="5257800"/>
            <a:ext cx="7589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0F4FC"/>
                </a:solidFill>
                <a:latin typeface="Calibri"/>
              </a:defRPr>
            </a:pPr>
            <a:r>
              <a:t>Strategic Outcome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86000" y="5623560"/>
            <a:ext cx="7589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818CF8"/>
                </a:solidFill>
                <a:latin typeface="Calibri"/>
              </a:defRPr>
            </a:pPr>
            <a:r>
              <a:t>Your platform becomes safer, faster, and cheaper to operate.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8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818CF8"/>
                </a:solidFill>
                <a:latin typeface="Calibri"/>
              </a:defRPr>
            </a:pPr>
            <a:r>
              <a:t>CLARITY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0F4FC"/>
                </a:solidFill>
                <a:latin typeface="Calibri"/>
              </a:defRPr>
            </a:pPr>
            <a:r>
              <a:t>AEGIS works independently —</a:t>
            </a:r>
            <a:br/>
            <a:r>
              <a:t>and gets stronger with integrations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AEGIS is not dependent on external tools to deliver value. It operates as a standalone platform reliability control plane using direct platform intelligence, governance logic, workflows, and operational decisioning.</a:t>
            </a:r>
            <a:br/>
            <a:br/>
            <a:r>
              <a:t>When connected to your monitoring, security, cost, and incident stack, it becomes the unified operating layer across your environment.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2103120"/>
            <a:ext cx="4846320" cy="4114800"/>
          </a:xfrm>
          <a:prstGeom prst="roundRect">
            <a:avLst/>
          </a:prstGeom>
          <a:solidFill>
            <a:srgbClr val="0F16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0" y="2194560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4748B"/>
                </a:solidFill>
                <a:latin typeface="Calibri"/>
              </a:defRPr>
            </a:pPr>
            <a:r>
              <a:t>AEGIS STANDALONE CORE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0" y="2651760"/>
            <a:ext cx="4480560" cy="411480"/>
          </a:xfrm>
          <a:prstGeom prst="roundRect">
            <a:avLst/>
          </a:prstGeom>
          <a:solidFill>
            <a:srgbClr val="0A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267716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✓  Platform discovery &amp; baseline visibility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0" y="3154680"/>
            <a:ext cx="4480560" cy="411480"/>
          </a:xfrm>
          <a:prstGeom prst="roundRect">
            <a:avLst/>
          </a:prstGeom>
          <a:solidFill>
            <a:srgbClr val="0A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0" y="318008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✓  Governance workflows &amp; policy decisions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0" y="3657600"/>
            <a:ext cx="4480560" cy="411480"/>
          </a:xfrm>
          <a:prstGeom prst="roundRect">
            <a:avLst/>
          </a:prstGeom>
          <a:solidFill>
            <a:srgbClr val="0A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0" y="368300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✓  Operational coordination &amp; audit trails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0" y="4160520"/>
            <a:ext cx="4480560" cy="411480"/>
          </a:xfrm>
          <a:prstGeom prst="roundRect">
            <a:avLst/>
          </a:prstGeom>
          <a:solidFill>
            <a:srgbClr val="0A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0" y="418592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✓  Cost, reliability, and maturity intelligence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0" y="4754880"/>
            <a:ext cx="4480560" cy="457200"/>
          </a:xfrm>
          <a:prstGeom prst="roundRect">
            <a:avLst/>
          </a:prstGeom>
          <a:solidFill>
            <a:srgbClr val="14182E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5120" y="480060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0F4FC"/>
                </a:solidFill>
                <a:latin typeface="Calibri"/>
              </a:defRPr>
            </a:pPr>
            <a:r>
              <a:t>Existing tools become inputs and outputs to the AEGIS operating layer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8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0" y="914400"/>
            <a:ext cx="10332720" cy="5029200"/>
          </a:xfrm>
          <a:prstGeom prst="roundRect">
            <a:avLst/>
          </a:prstGeom>
          <a:solidFill>
            <a:srgbClr val="0D1222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914400"/>
            <a:ext cx="10332720" cy="381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3716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818CF8"/>
                </a:solidFill>
                <a:latin typeface="Calibri"/>
              </a:defRPr>
            </a:pPr>
            <a:r>
              <a:t>DESIGN PARTNER PROGRAM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82880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0F4FC"/>
                </a:solidFill>
                <a:latin typeface="Calibri"/>
              </a:defRPr>
            </a:pPr>
            <a:r>
              <a:t>Shape the future of</a:t>
            </a:r>
            <a:br/>
            <a:r>
              <a:t>Platform Reliability Engineering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01752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Calibri"/>
              </a:defRPr>
            </a:pPr>
            <a:r>
              <a:t>We are working with a limited number of platform teams to shape AEGIS. If you are building serious platform capabilities, we want to work with you.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0" y="1645920"/>
            <a:ext cx="3931920" cy="457200"/>
          </a:xfrm>
          <a:prstGeom prst="roundRect">
            <a:avLst/>
          </a:prstGeom>
          <a:solidFill>
            <a:srgbClr val="0A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49440" y="1671320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✓  Early product access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0" y="2240280"/>
            <a:ext cx="3931920" cy="457200"/>
          </a:xfrm>
          <a:prstGeom prst="roundRect">
            <a:avLst/>
          </a:prstGeom>
          <a:solidFill>
            <a:srgbClr val="0A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49440" y="2265680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✓  Direct roadmap influence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0" y="2834640"/>
            <a:ext cx="3931920" cy="457200"/>
          </a:xfrm>
          <a:prstGeom prst="roundRect">
            <a:avLst/>
          </a:prstGeom>
          <a:solidFill>
            <a:srgbClr val="0A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9440" y="2860040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✓  Architecture collaboration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0" y="3429000"/>
            <a:ext cx="3931920" cy="457200"/>
          </a:xfrm>
          <a:prstGeom prst="roundRect">
            <a:avLst/>
          </a:prstGeom>
          <a:solidFill>
            <a:srgbClr val="0A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0" y="3454400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✓  Founder access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0" y="4023360"/>
            <a:ext cx="3931920" cy="457200"/>
          </a:xfrm>
          <a:prstGeom prst="roundRect">
            <a:avLst/>
          </a:prstGeom>
          <a:solidFill>
            <a:srgbClr val="0A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49440" y="4048760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✓  Preferred pricing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8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9144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818CF8"/>
                </a:solidFill>
                <a:latin typeface="Calibri"/>
              </a:defRPr>
            </a:pPr>
            <a:r>
              <a:t>BRAHMORA TECHNOLOGIES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0F4FC"/>
                </a:solidFill>
                <a:latin typeface="Calibri"/>
              </a:defRPr>
            </a:pPr>
            <a:r>
              <a:t>Platform reliability is becoming</a:t>
            </a:r>
            <a:br/>
            <a:r>
              <a:t>a discipline.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34747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4A3B8"/>
                </a:solidFill>
                <a:latin typeface="Calibri"/>
              </a:defRPr>
            </a:pPr>
            <a:r>
              <a:t>PRE defines it. AEGIS enables it.</a:t>
            </a:r>
            <a:br/>
            <a:r>
              <a:t>Join the companies shaping this future.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0" y="4389120"/>
            <a:ext cx="3931920" cy="64008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0" y="4434840"/>
            <a:ext cx="3931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Become a Design Partner  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6692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4748B"/>
                </a:solidFill>
                <a:latin typeface="Calibri"/>
              </a:defRPr>
            </a:pPr>
            <a:r>
              <a:t>brahmora.co.uk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